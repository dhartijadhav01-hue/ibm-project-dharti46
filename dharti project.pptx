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90" r:id="rId12"/>
    <p:sldId id="293" r:id="rId13"/>
    <p:sldId id="286" r:id="rId14"/>
    <p:sldId id="294" r:id="rId15"/>
    <p:sldId id="289" r:id="rId16"/>
    <p:sldId id="288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96" autoAdjust="0"/>
  </p:normalViewPr>
  <p:slideViewPr>
    <p:cSldViewPr snapToGrid="0">
      <p:cViewPr>
        <p:scale>
          <a:sx n="66" d="100"/>
          <a:sy n="66" d="100"/>
        </p:scale>
        <p:origin x="86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del">
          <ac:chgData name="Aman Shrivastava" userId="S::ashrivastava@edunetfoundation.org::c21995ab-fa37-4cde-b5a3-dec0fb9e9a10" providerId="AD" clId="Web-{088AD18C-7811-B1E2-9ED5-57A1A5542DF6}" dt="2026-06-19T06:20:45.745" v="122"/>
          <ac:spMkLst>
            <pc:docMk/>
            <pc:sldMk cId="0" sldId="257"/>
            <ac:spMk id="2" creationId="{20FC1D0F-7927-693D-B3A8-BEEE7BBB2D18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02.481" v="214"/>
          <ac:spMkLst>
            <pc:docMk/>
            <pc:sldMk cId="0" sldId="257"/>
            <ac:spMk id="5" creationId="{8CF059D9-DCD7-9C47-2E79-C5986ADDD187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33.481" v="246"/>
          <ac:spMkLst>
            <pc:docMk/>
            <pc:sldMk cId="0" sldId="257"/>
            <ac:spMk id="6" creationId="{351EC9F7-1007-D29E-338A-EEE56747ED3E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5:23.585" v="76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del mod">
          <ac:chgData name="Aman Shrivastava" userId="S::ashrivastava@edunetfoundation.org::c21995ab-fa37-4cde-b5a3-dec0fb9e9a10" providerId="AD" clId="Web-{088AD18C-7811-B1E2-9ED5-57A1A5542DF6}" dt="2026-06-19T06:18:45.275" v="79"/>
          <ac:picMkLst>
            <pc:docMk/>
            <pc:sldMk cId="2115484872" sldId="277"/>
            <ac:picMk id="2" creationId="{E9DB3200-E2EC-A058-B02D-E1510060484E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8:46.790" v="80"/>
          <ac:picMkLst>
            <pc:docMk/>
            <pc:sldMk cId="2115484872" sldId="277"/>
            <ac:picMk id="3" creationId="{03614573-D426-9337-9C0E-5207B9123920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  <pc:inkChg chg="add del">
          <ac:chgData name="Aman Shrivastava" userId="S::ashrivastava@edunetfoundation.org::c21995ab-fa37-4cde-b5a3-dec0fb9e9a10" providerId="AD" clId="Web-{088AD18C-7811-B1E2-9ED5-57A1A5542DF6}" dt="2026-06-19T05:51:50.431" v="39"/>
          <ac:inkMkLst>
            <pc:docMk/>
            <pc:sldMk cId="2115484872" sldId="277"/>
            <ac:inkMk id="4" creationId="{339FEE3F-7BE8-8E7A-6A09-16BCB25AB1E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4.134" v="45"/>
          <ac:inkMkLst>
            <pc:docMk/>
            <pc:sldMk cId="2115484872" sldId="277"/>
            <ac:inkMk id="6" creationId="{A89955C5-BB88-2BD8-C3DC-B49AE1FA753F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634" v="44"/>
          <ac:inkMkLst>
            <pc:docMk/>
            <pc:sldMk cId="2115484872" sldId="277"/>
            <ac:inkMk id="7" creationId="{215511CE-958D-7751-754D-0682F725A052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275" v="43"/>
          <ac:inkMkLst>
            <pc:docMk/>
            <pc:sldMk cId="2115484872" sldId="277"/>
            <ac:inkMk id="8" creationId="{54C6AFEC-9CCE-EC84-7FBE-A4154B140DC8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1.150" v="81"/>
          <ac:inkMkLst>
            <pc:docMk/>
            <pc:sldMk cId="2115484872" sldId="277"/>
            <ac:inkMk id="9" creationId="{4288BD03-6EE6-7ADE-E088-246DCEBA2D0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3.494" v="82"/>
          <ac:inkMkLst>
            <pc:docMk/>
            <pc:sldMk cId="2115484872" sldId="277"/>
            <ac:inkMk id="10" creationId="{64412BAE-99D1-29B6-F8E0-FFAEAC5EF7C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06:19.409" v="69"/>
          <ac:inkMkLst>
            <pc:docMk/>
            <pc:sldMk cId="2115484872" sldId="277"/>
            <ac:inkMk id="11" creationId="{75A70817-4D26-F5D5-7B43-3BF146ADCFA3}"/>
          </ac:inkMkLst>
        </pc:ink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del">
          <ac:chgData name="Aman Shrivastava" userId="S::ashrivastava@edunetfoundation.org::c21995ab-fa37-4cde-b5a3-dec0fb9e9a10" providerId="AD" clId="Web-{088AD18C-7811-B1E2-9ED5-57A1A5542DF6}" dt="2026-06-19T06:09:56.270" v="70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">
        <pc:chgData name="Aman Shrivastava" userId="S::ashrivastava@edunetfoundation.org::c21995ab-fa37-4cde-b5a3-dec0fb9e9a10" providerId="AD" clId="Web-{088AD18C-7811-B1E2-9ED5-57A1A5542DF6}" dt="2026-06-19T06:28:32.545" v="260"/>
        <pc:sldMkLst>
          <pc:docMk/>
          <pc:sldMk cId="4218467252" sldId="284"/>
        </pc:sldMkLst>
        <pc:inkChg chg="add">
          <ac:chgData name="Aman Shrivastava" userId="S::ashrivastava@edunetfoundation.org::c21995ab-fa37-4cde-b5a3-dec0fb9e9a10" providerId="AD" clId="Web-{088AD18C-7811-B1E2-9ED5-57A1A5542DF6}" dt="2026-06-19T06:02:12.187" v="49"/>
          <ac:inkMkLst>
            <pc:docMk/>
            <pc:sldMk cId="4218467252" sldId="284"/>
            <ac:inkMk id="4" creationId="{022D0B6B-16B4-5876-55B2-3ACEECC98828}"/>
          </ac:inkMkLst>
        </pc:ink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  <pc:spChg chg="add del">
          <ac:chgData name="Aman Shrivastava" userId="S::ashrivastava@edunetfoundation.org::c21995ab-fa37-4cde-b5a3-dec0fb9e9a10" providerId="AD" clId="Web-{088AD18C-7811-B1E2-9ED5-57A1A5542DF6}" dt="2026-06-19T05:52:06.978" v="46"/>
          <ac:spMkLst>
            <pc:docMk/>
            <pc:sldMk cId="2605851928" sldId="287"/>
            <ac:spMk id="2" creationId="{22776EB6-691D-8F86-ABF4-9D27BDFB77FE}"/>
          </ac:spMkLst>
        </pc:spChg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del">
          <ac:chgData name="Aman Shrivastava" userId="S::ashrivastava@edunetfoundation.org::c21995ab-fa37-4cde-b5a3-dec0fb9e9a10" providerId="AD" clId="Web-{088AD18C-7811-B1E2-9ED5-57A1A5542DF6}" dt="2026-06-19T05:41:05.877" v="1"/>
          <ac:spMkLst>
            <pc:docMk/>
            <pc:sldMk cId="1229047658" sldId="288"/>
            <ac:spMk id="2" creationId="{DF28AC7D-07EA-A945-E96E-15036A9DB45D}"/>
          </ac:spMkLst>
        </pc:spChg>
        <pc:spChg chg="del">
          <ac:chgData name="Aman Shrivastava" userId="S::ashrivastava@edunetfoundation.org::c21995ab-fa37-4cde-b5a3-dec0fb9e9a10" providerId="AD" clId="Web-{088AD18C-7811-B1E2-9ED5-57A1A5542DF6}" dt="2026-06-19T05:41:09.174" v="2"/>
          <ac:spMkLst>
            <pc:docMk/>
            <pc:sldMk cId="1229047658" sldId="288"/>
            <ac:spMk id="3" creationId="{6E0CE283-F2CE-BB1E-A169-02FBC85A94BA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5:48:40.427" v="14" actId="14100"/>
          <ac:picMkLst>
            <pc:docMk/>
            <pc:sldMk cId="1229047658" sldId="288"/>
            <ac:picMk id="4" creationId="{AD88C341-1F2F-9B6F-593F-2917E7E23DCB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5:48:32.318" v="12" actId="14100"/>
          <ac:picMkLst>
            <pc:docMk/>
            <pc:sldMk cId="1229047658" sldId="288"/>
            <ac:picMk id="5" creationId="{78BE1AD4-7C9B-6215-1BD9-9999437CD770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del">
          <ac:chgData name="Aswini Kumar Motapothula" userId="S::aswinikumar@edunetfoundation.org::8849ae8d-bc89-4217-899c-9440ffcae5bb" providerId="AD" clId="Web-{0037A25B-DA5D-A37C-3B36-7F0977405ABF}" dt="2026-06-19T05:52:55.794" v="1"/>
          <ac:spMkLst>
            <pc:docMk/>
            <pc:sldMk cId="1229047658" sldId="288"/>
            <ac:spMk id="2" creationId="{AEE9AF93-8291-7FBB-4169-9C96AABF542F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  <pc:picChg chg="mod">
          <ac:chgData name="Aswini Kumar Motapothula" userId="S::aswinikumar@edunetfoundation.org::8849ae8d-bc89-4217-899c-9440ffcae5bb" providerId="AD" clId="Web-{0037A25B-DA5D-A37C-3B36-7F0977405ABF}" dt="2026-06-19T05:54:10.419" v="46" actId="1076"/>
          <ac:picMkLst>
            <pc:docMk/>
            <pc:sldMk cId="1229047658" sldId="288"/>
            <ac:picMk id="4" creationId="{AD88C341-1F2F-9B6F-593F-2917E7E23DCB}"/>
          </ac:picMkLst>
        </pc:picChg>
        <pc:picChg chg="del mod">
          <ac:chgData name="Aswini Kumar Motapothula" userId="S::aswinikumar@edunetfoundation.org::8849ae8d-bc89-4217-899c-9440ffcae5bb" providerId="AD" clId="Web-{0037A25B-DA5D-A37C-3B36-7F0977405ABF}" dt="2026-06-19T05:54:19.904" v="49"/>
          <ac:picMkLst>
            <pc:docMk/>
            <pc:sldMk cId="1229047658" sldId="288"/>
            <ac:picMk id="5" creationId="{78BE1AD4-7C9B-6215-1BD9-9999437CD770}"/>
          </ac:picMkLst>
        </pc:pic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del">
          <ac:chgData name="Aswini Kumar Motapothula" userId="S::aswinikumar@edunetfoundation.org::8849ae8d-bc89-4217-899c-9440ffcae5bb" providerId="AD" clId="Web-{0037A25B-DA5D-A37C-3B36-7F0977405ABF}" dt="2026-06-19T05:54:27.466" v="53"/>
          <ac:spMkLst>
            <pc:docMk/>
            <pc:sldMk cId="2506610743" sldId="289"/>
            <ac:spMk id="2" creationId="{CB0171ED-6665-28B2-1F95-D5DB94297A27}"/>
          </ac:spMkLst>
        </pc:spChg>
        <pc:spChg chg="del">
          <ac:chgData name="Aswini Kumar Motapothula" userId="S::aswinikumar@edunetfoundation.org::8849ae8d-bc89-4217-899c-9440ffcae5bb" providerId="AD" clId="Web-{0037A25B-DA5D-A37C-3B36-7F0977405ABF}" dt="2026-06-19T05:54:30.450" v="54"/>
          <ac:spMkLst>
            <pc:docMk/>
            <pc:sldMk cId="2506610743" sldId="289"/>
            <ac:spMk id="3" creationId="{7D69201D-F352-BEC5-9310-979DE8898B63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16576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5377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8942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8146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17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205755870"/>
              </p:ext>
            </p:extLst>
          </p:nvPr>
        </p:nvGraphicFramePr>
        <p:xfrm>
          <a:off x="1299257" y="2600315"/>
          <a:ext cx="9394989" cy="2497247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Student Name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Recent Passport Photo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</a:t>
                      </a:r>
                      <a:r>
                        <a:rPr lang="en-US" sz="20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WhatsApp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err="1" smtClean="0"/>
                        <a:t>Dharti</a:t>
                      </a:r>
                      <a:r>
                        <a:rPr lang="en-IN" sz="2000" dirty="0" smtClean="0"/>
                        <a:t> </a:t>
                      </a:r>
                      <a:r>
                        <a:rPr lang="en-IN" sz="2000" dirty="0" err="1" smtClean="0"/>
                        <a:t>Shahajirao</a:t>
                      </a:r>
                      <a:endParaRPr lang="en-IN" sz="20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err="1" smtClean="0"/>
                        <a:t>jadhav</a:t>
                      </a:r>
                      <a:endParaRPr lang="en-IN" sz="20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smtClean="0"/>
                        <a:t>dhartijadhav01@gmail.com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 smtClean="0"/>
                        <a:t>8660833802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</a:t>
            </a:r>
            <a:r>
              <a:rPr lang="en-US" sz="2400" b="1" dirty="0"/>
              <a:t> </a:t>
            </a:r>
            <a:r>
              <a:rPr lang="en-US" sz="2800" b="1" dirty="0"/>
              <a:t>of  </a:t>
            </a:r>
            <a:r>
              <a:rPr lang="en-US" sz="2800" b="1" dirty="0" smtClean="0"/>
              <a:t>Project – Food and Nutrition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</a:t>
            </a:r>
            <a:r>
              <a:rPr lang="en-US" sz="2800" b="1" dirty="0" smtClean="0"/>
              <a:t>Title-Document Q&amp;A RAG Agent for Recipe Generator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/>
              <a:t/>
            </a: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472" y="3707194"/>
            <a:ext cx="999423" cy="9994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62000" y="495300"/>
            <a:ext cx="10421112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dirty="0"/>
          </a:p>
          <a:p>
            <a:pPr fontAlgn="base"/>
            <a:endParaRPr lang="en-US" sz="2000" b="1" dirty="0"/>
          </a:p>
          <a:p>
            <a:pPr fontAlgn="base"/>
            <a:r>
              <a:rPr lang="en-US" sz="2800" b="1" dirty="0"/>
              <a:t>The Challenge</a:t>
            </a:r>
          </a:p>
          <a:p>
            <a:pPr fontAlgn="base"/>
            <a:r>
              <a:rPr lang="en-US" sz="2000" dirty="0"/>
              <a:t>Good cooking requires creativity and knowledge, but individuals struggle with recipe planning, ingredient substitution, and personalized cooking. Recipe information is scattered across unreliable sources.</a:t>
            </a:r>
          </a:p>
          <a:p>
            <a:pPr fontAlgn="base"/>
            <a:endParaRPr lang="en-US" sz="2000" b="1" dirty="0"/>
          </a:p>
          <a:p>
            <a:pPr fontAlgn="base"/>
            <a:r>
              <a:rPr lang="en-US" sz="2000" b="1" dirty="0"/>
              <a:t>The Objective</a:t>
            </a:r>
          </a:p>
          <a:p>
            <a:pPr fontAlgn="base"/>
            <a:r>
              <a:rPr lang="en-US" sz="2000" dirty="0"/>
              <a:t>Build an AI-powered Q&amp;A RAG Agent that delivers personalized recipe generation and cooking assistance.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800" b="1" dirty="0"/>
              <a:t>Key Features: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Personalized Recipe Generation </a:t>
            </a:r>
            <a:r>
              <a:rPr lang="en-US" sz="2000" dirty="0"/>
              <a:t>– Based on ingredients, allergies, preferences</a:t>
            </a:r>
          </a:p>
          <a:p>
            <a:pPr fontAlgn="base"/>
            <a:r>
              <a:rPr lang="en-US" sz="2000" b="1" dirty="0"/>
              <a:t>• Q&amp;A RAG Retrieval </a:t>
            </a:r>
            <a:r>
              <a:rPr lang="en-US" sz="2000" dirty="0"/>
              <a:t>– Answers cooking queries from reliable sources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Ingredient Search </a:t>
            </a:r>
            <a:r>
              <a:rPr lang="en-US" sz="2000" dirty="0"/>
              <a:t>– Input via text / image / voice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Nutritional Focus </a:t>
            </a:r>
            <a:r>
              <a:rPr lang="en-US" sz="2000" dirty="0"/>
              <a:t>– Calories, macros, vitamins</a:t>
            </a:r>
          </a:p>
          <a:p>
            <a:pPr fontAlgn="base"/>
            <a:r>
              <a:rPr lang="en-US" sz="2000" dirty="0"/>
              <a:t>• </a:t>
            </a:r>
            <a:r>
              <a:rPr lang="en-US" sz="2000" b="1" dirty="0"/>
              <a:t>Multi-Agent System</a:t>
            </a:r>
            <a:r>
              <a:rPr lang="en-US" sz="2000" dirty="0"/>
              <a:t>: Recipe Knowledge Agent, Recipe Generator Agent, Q&amp;A Advisory Agent</a:t>
            </a:r>
          </a:p>
          <a:p>
            <a:pPr fontAlgn="base"/>
            <a:r>
              <a:rPr lang="en-US" sz="2000" b="1" dirty="0"/>
              <a:t>• Visualization Dashboard </a:t>
            </a:r>
            <a:r>
              <a:rPr lang="en-US" sz="2000" dirty="0"/>
              <a:t>– Saved recipes, history </a:t>
            </a:r>
          </a:p>
          <a:p>
            <a:pPr fontAlgn="base"/>
            <a:endParaRPr lang="en-US" sz="20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673100" y="0"/>
            <a:ext cx="7117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r>
              <a:rPr lang="en-US" sz="2400" b="1" dirty="0" smtClean="0"/>
              <a:t>-Q&amp;A RAG A gent for Recipe Generator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457200" y="828040"/>
            <a:ext cx="10607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proposed solution is a multi-agent AI-powered Q&amp;A RAG Recipe Generator built using IBM Bob, IBM watsonx.ai, and Granite Models to provide personalized, real-time recipe generation and cooking guidance. The system addresses challenges in meal planning, ingredient use, and preventive healthy cooking through an intelligent, modular architecture.</a:t>
            </a:r>
          </a:p>
          <a:p>
            <a:r>
              <a:rPr lang="en-US" sz="2000" dirty="0" smtClean="0"/>
              <a:t>At </a:t>
            </a:r>
            <a:r>
              <a:rPr lang="en-US" sz="2000" dirty="0"/>
              <a:t>its core, the solution uses a Retrieval-Augmented Generation (RAG) pipeline to fetch accurate recipe data from trusted sources such as curated recipe datasets</a:t>
            </a:r>
            <a:r>
              <a:rPr lang="en-US" dirty="0"/>
              <a:t>, </a:t>
            </a:r>
            <a:r>
              <a:rPr lang="en-US" sz="2000" dirty="0"/>
              <a:t>food </a:t>
            </a:r>
            <a:r>
              <a:rPr lang="en-US" sz="2000" dirty="0" smtClean="0"/>
              <a:t>blogs, and </a:t>
            </a:r>
            <a:r>
              <a:rPr lang="en-US" sz="2000" dirty="0"/>
              <a:t>USDA nutrition. </a:t>
            </a:r>
          </a:p>
          <a:p>
            <a:r>
              <a:rPr lang="en-US" sz="2000" b="1" dirty="0" smtClean="0"/>
              <a:t>The </a:t>
            </a:r>
            <a:r>
              <a:rPr lang="en-US" sz="2000" b="1" dirty="0"/>
              <a:t>system consists of four key agents:</a:t>
            </a:r>
          </a:p>
          <a:p>
            <a:r>
              <a:rPr lang="en-US" sz="2000" dirty="0"/>
              <a:t>- Recipe Knowledge Agent retrieves and summarizes nutritional &amp; recipe info using RAG.</a:t>
            </a:r>
          </a:p>
          <a:p>
            <a:r>
              <a:rPr lang="en-US" dirty="0"/>
              <a:t>- R</a:t>
            </a:r>
            <a:r>
              <a:rPr lang="en-US" sz="2000" dirty="0"/>
              <a:t>ecipe Recommendation Agent generates personalized recipes based on user inputs such as available ingredients, age, health conditions, dietary preferences, cooking time, and fitness goals.</a:t>
            </a:r>
          </a:p>
          <a:p>
            <a:r>
              <a:rPr lang="en-US" sz="2000" dirty="0" smtClean="0"/>
              <a:t>-Health </a:t>
            </a:r>
            <a:r>
              <a:rPr lang="en-US" sz="2000" dirty="0"/>
              <a:t>&amp; Q&amp;A Advisory Agent provides preventive cooking suggestions and answers queries like </a:t>
            </a:r>
            <a:r>
              <a:rPr lang="en-US" sz="2000" dirty="0" smtClean="0"/>
              <a:t>substitutions</a:t>
            </a:r>
            <a:endParaRPr lang="en-US" sz="2000" dirty="0" smtClean="0"/>
          </a:p>
          <a:p>
            <a:r>
              <a:rPr lang="en-US" sz="2000" dirty="0" smtClean="0"/>
              <a:t>- </a:t>
            </a:r>
            <a:r>
              <a:rPr lang="en-US" sz="2000" dirty="0"/>
              <a:t>Food Log &amp; Feedback Agent allows users to log meals via text, voice, or images and delivers instant nutritional analysis with actionable feedback.</a:t>
            </a:r>
          </a:p>
          <a:p>
            <a:r>
              <a:rPr lang="en-US" sz="2000" dirty="0" smtClean="0"/>
              <a:t>Overall</a:t>
            </a:r>
            <a:r>
              <a:rPr lang="en-US" sz="2000" dirty="0"/>
              <a:t>, this solution delivers an end-to-end intelligent recipe assistant that promotes healthier lifestyles through personalized insights, real-time feedback, and creative cooking.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457200" y="0"/>
            <a:ext cx="7333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Problem </a:t>
            </a:r>
            <a:r>
              <a:rPr lang="en-US" sz="2400" b="1" dirty="0" smtClean="0"/>
              <a:t>Statement-AI-Powered </a:t>
            </a:r>
            <a:r>
              <a:rPr lang="en-US" sz="2400" b="1" dirty="0"/>
              <a:t>Q&amp;A RAG Recipe Generator Agent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436098" y="196948"/>
            <a:ext cx="1085674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Technology </a:t>
            </a:r>
            <a:r>
              <a:rPr lang="en-US" sz="2800" b="1" dirty="0"/>
              <a:t>Used - Q&amp;A RAG Agent for Recipe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IBM Bob platform </a:t>
            </a:r>
            <a:r>
              <a:rPr lang="en-US" sz="2000" dirty="0"/>
              <a:t>– For designing and orchestrating multi-agent workflows visually for recipe generation and Q&amp;A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r>
              <a:rPr lang="en-US" sz="1800" b="1" dirty="0" smtClean="0"/>
              <a:t>IBM </a:t>
            </a:r>
            <a:r>
              <a:rPr lang="en-US" sz="1800" b="1" dirty="0"/>
              <a:t>Granite model </a:t>
            </a:r>
            <a:r>
              <a:rPr lang="en-US" sz="2000" b="1" dirty="0"/>
              <a:t>- </a:t>
            </a:r>
            <a:r>
              <a:rPr lang="en-US" sz="2000" dirty="0"/>
              <a:t>for </a:t>
            </a:r>
            <a:r>
              <a:rPr lang="en-US" sz="2000" dirty="0" err="1"/>
              <a:t>eg</a:t>
            </a:r>
            <a:r>
              <a:rPr lang="en-US" sz="2000" dirty="0"/>
              <a:t> – ibm-granite-3-2-8b – For natural language understanding, recipe reasoning, ingredient substitution, and personalization.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IBM Cloud – </a:t>
            </a:r>
            <a:r>
              <a:rPr lang="en-US" sz="2000" dirty="0"/>
              <a:t>It provides the infrastructure to build, deploy, and scale the Recipe Generator Agent efficiently. IBM Cloud enables a reliable, secure, and scalable environment for deploying the Q&amp;A RAG Recipe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RAG </a:t>
            </a:r>
            <a:r>
              <a:rPr lang="en-US" sz="2000" dirty="0"/>
              <a:t>– RAG to fetch real recipe data first, then generate intelligent answers &amp; recipes, making the Recipe Agent more trustworthy and effective (no hallucinations).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1800" b="1" dirty="0" smtClean="0"/>
              <a:t> </a:t>
            </a:r>
            <a:r>
              <a:rPr lang="en-US" sz="1800" b="1" dirty="0"/>
              <a:t>IBM Watsonx.ai - </a:t>
            </a:r>
            <a:r>
              <a:rPr lang="en-US" sz="2000" dirty="0"/>
              <a:t>For model deployment, </a:t>
            </a:r>
            <a:r>
              <a:rPr lang="en-US" sz="2000" dirty="0" err="1"/>
              <a:t>embeddings</a:t>
            </a:r>
            <a:r>
              <a:rPr lang="en-US" sz="2000" dirty="0"/>
              <a:t>, prompt tuning, and AI governance for recipe data.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 </a:t>
            </a:r>
            <a:r>
              <a:rPr lang="en-US" sz="1800" b="1" dirty="0"/>
              <a:t>Vector Database (FAISS / Chroma) – </a:t>
            </a:r>
            <a:r>
              <a:rPr lang="en-US" sz="2000" dirty="0"/>
              <a:t>For RAG-based recipe &amp; nutritional data retrieval from curated recipe datasets and USDA food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=""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404" y="1304039"/>
            <a:ext cx="8416383" cy="473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r="5993"/>
          <a:stretch/>
        </p:blipFill>
        <p:spPr>
          <a:xfrm>
            <a:off x="1872342" y="1365200"/>
            <a:ext cx="8563429" cy="54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71" r="-12206" b="37566"/>
          <a:stretch/>
        </p:blipFill>
        <p:spPr>
          <a:xfrm>
            <a:off x="1393370" y="478970"/>
            <a:ext cx="11219543" cy="6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1036" t="14237" r="27578" b="30444"/>
          <a:stretch/>
        </p:blipFill>
        <p:spPr>
          <a:xfrm>
            <a:off x="1814286" y="1524001"/>
            <a:ext cx="8389258" cy="52106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Nutrition Agent</a:t>
            </a:r>
          </a:p>
          <a:p>
            <a:r>
              <a:rPr lang="en-US" b="1"/>
              <a:t>Agentic AI</a:t>
            </a:r>
            <a:r>
              <a:rPr lang="en-US"/>
              <a:t> enables the Nutrition Agent to function as an intelligent, autonomous system rather than a simple chatbot.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multiple specialized agents to deliver personalized nutrition guidance.</a:t>
            </a:r>
          </a:p>
          <a:p>
            <a:r>
              <a:rPr lang="en-US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/>
              <a:t>multi-agent approach</a:t>
            </a:r>
            <a:r>
              <a:rPr lang="en-US"/>
              <a:t> ensures efficient task execution and accurate results.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user details like age, health conditions, and fitness goals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suggestions based on user inputs like daily meals.</a:t>
            </a:r>
          </a:p>
          <a:p>
            <a:r>
              <a:rPr lang="en-US"/>
              <a:t>Additionally, agents communicate with each other, enabling better decision-making and improved outcomes.</a:t>
            </a:r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smart digital nutritionist</a:t>
            </a:r>
            <a:r>
              <a:rPr lang="en-US"/>
              <a:t> that helps users maintain a healthy lifestyle.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4" t="12044" r="7494" b="15962"/>
          <a:stretch/>
        </p:blipFill>
        <p:spPr>
          <a:xfrm>
            <a:off x="1567543" y="827314"/>
            <a:ext cx="9739086" cy="493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0" t="29264" r="17500" b="8567"/>
          <a:stretch/>
        </p:blipFill>
        <p:spPr>
          <a:xfrm>
            <a:off x="1988457" y="2133600"/>
            <a:ext cx="8069944" cy="41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The proposed Nutrition Agent stands out by combining </a:t>
            </a:r>
            <a:r>
              <a:rPr lang="en-IN" sz="1800" b="1"/>
              <a:t>Agentic AI, RAG, and personalization</a:t>
            </a:r>
            <a:r>
              <a:rPr lang="en-IN" sz="1800"/>
              <a:t> into a single intelligent system.</a:t>
            </a:r>
          </a:p>
          <a:p>
            <a:endParaRPr lang="en-IN" sz="1800"/>
          </a:p>
          <a:p>
            <a:r>
              <a:rPr lang="en-IN" sz="1800" b="1"/>
              <a:t>Multi-Agent Intelligence</a:t>
            </a:r>
            <a:r>
              <a:rPr lang="en-IN" sz="1800"/>
              <a:t> – Instead of a single chatbot, multiple specialized agents collaborate to deliver accurate and context-aware nutrition guidance. </a:t>
            </a:r>
          </a:p>
          <a:p>
            <a:r>
              <a:rPr lang="en-IN" sz="1800" b="1"/>
              <a:t>RAG-Based Accuracy</a:t>
            </a:r>
            <a:r>
              <a:rPr lang="en-IN" sz="1800"/>
              <a:t> – Integrates real-time data retrieval with AI generation, reducing misinformation and ensuring trustworthy recommendations. </a:t>
            </a:r>
          </a:p>
          <a:p>
            <a:r>
              <a:rPr lang="en-IN" sz="1800" b="1"/>
              <a:t>Hyper-Personalization</a:t>
            </a:r>
            <a:r>
              <a:rPr lang="en-IN" sz="1800"/>
              <a:t> – Tailors diet plans based on health conditions, cultural preferences, and fitness goals. </a:t>
            </a:r>
          </a:p>
          <a:p>
            <a:r>
              <a:rPr lang="en-IN" sz="1800" b="1"/>
              <a:t>Real-Time Feedback Loop</a:t>
            </a:r>
            <a:r>
              <a:rPr lang="en-IN" sz="1800"/>
              <a:t> – Continuously adapts recommendations based on daily food logs and user </a:t>
            </a:r>
            <a:r>
              <a:rPr lang="en-IN" sz="1800" err="1"/>
              <a:t>behavior</a:t>
            </a:r>
            <a:r>
              <a:rPr lang="en-IN" sz="1800"/>
              <a:t>. </a:t>
            </a:r>
          </a:p>
          <a:p>
            <a:r>
              <a:rPr lang="en-IN" sz="1800" b="1"/>
              <a:t>Multi-Modal Input</a:t>
            </a:r>
            <a:r>
              <a:rPr lang="en-IN" sz="1800"/>
              <a:t> – Supports text, voice, and image-based meal tracking for better usability. </a:t>
            </a:r>
          </a:p>
          <a:p>
            <a:r>
              <a:rPr lang="en-IN" sz="1800" b="1"/>
              <a:t>Preventive Healthcare Focus</a:t>
            </a:r>
            <a:r>
              <a:rPr lang="en-IN" sz="1800"/>
              <a:t> – Goes beyond diet planning to provide disease-specific nutrition advice. </a:t>
            </a:r>
          </a:p>
          <a:p>
            <a:r>
              <a:rPr lang="en-IN" sz="1800" b="1"/>
              <a:t>Scalable &amp; Enterprise-Ready</a:t>
            </a:r>
            <a:r>
              <a:rPr lang="en-IN" sz="1800"/>
              <a:t> – Built on </a:t>
            </a:r>
            <a:r>
              <a:rPr lang="en-IN" sz="1800" b="1"/>
              <a:t>IBM watsonx.ai</a:t>
            </a:r>
            <a:r>
              <a:rPr lang="en-IN" sz="1800"/>
              <a:t> with </a:t>
            </a:r>
            <a:r>
              <a:rPr lang="en-IN" sz="1800" b="1"/>
              <a:t>IBM Granite models</a:t>
            </a:r>
            <a:r>
              <a:rPr lang="en-IN" sz="1800"/>
              <a:t>, ensuring reliability and governance. </a:t>
            </a:r>
          </a:p>
          <a:p>
            <a:endParaRPr lang="en-IN" sz="1800"/>
          </a:p>
          <a:p>
            <a:r>
              <a:rPr lang="en-IN" sz="1800"/>
              <a:t>This makes the solution a </a:t>
            </a:r>
            <a:r>
              <a:rPr lang="en-IN" sz="1800" b="1"/>
              <a:t>smart, adaptive, and proactive digital nutritionist</a:t>
            </a:r>
            <a:r>
              <a:rPr lang="en-IN" sz="1800"/>
              <a:t>, not just a static diet recommendation tool.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84" y="-1817234"/>
            <a:ext cx="9881507" cy="2852737"/>
          </a:xfrm>
        </p:spPr>
        <p:txBody>
          <a:bodyPr>
            <a:normAutofit/>
          </a:bodyPr>
          <a:lstStyle/>
          <a:p>
            <a:r>
              <a:rPr lang="en-IN" sz="2800" dirty="0" smtClean="0"/>
              <a:t>GIT Hub Link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425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sp>
        <p:nvSpPr>
          <p:cNvPr id="7" name="AutoShape 4" descr="blob:https://web.whatsapp.com/843d5b4f-9389-40b3-bdcf-2d8550bcb1f2"/>
          <p:cNvSpPr>
            <a:spLocks noChangeAspect="1" noChangeArrowheads="1"/>
          </p:cNvSpPr>
          <p:nvPr/>
        </p:nvSpPr>
        <p:spPr bwMode="auto">
          <a:xfrm>
            <a:off x="3215683" y="34405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29" t="4505" r="14405"/>
          <a:stretch/>
        </p:blipFill>
        <p:spPr>
          <a:xfrm>
            <a:off x="3179334" y="1335315"/>
            <a:ext cx="6908801" cy="52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23339" t="11458" r="23450" b="17907"/>
          <a:stretch/>
        </p:blipFill>
        <p:spPr>
          <a:xfrm>
            <a:off x="2737321" y="1151117"/>
            <a:ext cx="6168571" cy="46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953</Words>
  <Application>Microsoft Office PowerPoint</Application>
  <PresentationFormat>Widescreen</PresentationFormat>
  <Paragraphs>110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 Hub Link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24</cp:revision>
  <dcterms:created xsi:type="dcterms:W3CDTF">2025-07-08T05:06:56Z</dcterms:created>
  <dcterms:modified xsi:type="dcterms:W3CDTF">2026-10-14T18:09:06Z</dcterms:modified>
</cp:coreProperties>
</file>